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de269b6-54ca-4a2f-b2fd-3197dc8ce3ce}">
          <p14:sldIdLst>
            <p14:sldId id="256"/>
          </p14:sldIdLst>
        </p14:section>
        <p14:section name="願景" id="{483e6d69-2525-a95a-884f-fb23317a4f53}">
          <p14:sldIdLst>
            <p14:sldId id="257"/>
            <p14:sldId id="258"/>
            <p14:sldId id="259"/>
          </p14:sldIdLst>
        </p14:section>
        <p14:section name="300公頃" id="{1c8eb359-5258-2150-092e-3af4714dbd79}">
          <p14:sldIdLst>
            <p14:sldId id="260"/>
            <p14:sldId id="261"/>
            <p14:sldId id="262"/>
            <p14:sldId id="263"/>
            <p14:sldId id="264"/>
          </p14:sldIdLst>
        </p14:section>
        <p14:section name="交通" id="{1afb378a-2181-c058-3664-e89d225c066c}">
          <p14:sldIdLst>
            <p14:sldId id="265"/>
            <p14:sldId id="266"/>
          </p14:sldIdLst>
        </p14:section>
        <p14:section name="大台北新矽谷" id="{56eb863b-9529-a41e-f138-4cf3b36c3472}">
          <p14:sldIdLst>
            <p14:sldId id="267"/>
            <p14:sldId id="268"/>
          </p14:sldIdLst>
        </p14:section>
        <p14:section name="體驗與結語" id="{8c7b9326-1bc3-ae30-a45c-39e21fe2ad97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03A"/>
                </a:solidFill>
                <a:latin typeface="+mn-lt"/>
              </a:rPr>
              <a:t>單位：公頃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300 公頃配置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6FD1"/>
              </a:solidFill>
              <a:effectLst/>
            </c:spPr>
          </c:dPt>
          <c:dPt>
            <c:idx val="1"/>
            <c:bubble3D val="0"/>
            <c:spPr>
              <a:solidFill>
                <a:srgbClr val="C46A00"/>
              </a:solidFill>
              <a:effectLst/>
            </c:spPr>
          </c:dPt>
          <c:dPt>
            <c:idx val="2"/>
            <c:bubble3D val="0"/>
            <c:spPr>
              <a:solidFill>
                <a:srgbClr val="3FA34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AI 產業聚落</c:v>
                </c:pt>
                <c:pt idx="1">
                  <c:v>生活聚落</c:v>
                </c:pt>
                <c:pt idx="2">
                  <c:v>中央公園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100</c:v>
                </c:pt>
                <c:pt idx="1">
                  <c:v>90</c:v>
                </c:pt>
                <c:pt idx="2">
                  <c:v>110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20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03A"/>
                </a:solidFill>
                <a:latin typeface="+mn-lt"/>
              </a:rPr>
              <a:t>面積比較（公頃）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面積（公頃）</c:v>
                </c:pt>
              </c:strCache>
            </c:strRef>
          </c:tx>
          <c:spPr>
            <a:solidFill>
              <a:srgbClr val="3FA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B17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大安森林公園</c:v>
                  </c:pt>
                  <c:pt idx="1">
                    <c:v>東京代代木公園</c:v>
                  </c:pt>
                  <c:pt idx="2">
                    <c:v>臺北中央公園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25.9</c:v>
                </c:pt>
                <c:pt idx="1">
                  <c:v>54.1</c:v>
                </c:pt>
                <c:pt idx="2">
                  <c:v>110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B17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0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開場：2026 年 10 月 8 日，臺北市長蔣萬安在市府大數據中心召開「打造AI黃金世紀、全面釋放都市潛力」記者會，宣布規劃遷移松山機場，整合機場及周邊 300 公頃，打造全新的臺北AI園區。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核心概念：松機及周邊 300 公頃，分成 100 公頃 AI 產業聚落、90 公頃國際永續生活聚落、110 公頃中央公園；同時解鎖 570 公頃受航高限制的都更地區。產業局推估 12 兆產值。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今年初輝達選擇臺北、落腳北士科。但臺北三大科技園區都滿了：北士科只剩 T3、T4、T12，內科、南軟也沒有大面積產業用地。洲美已規劃為北士科二期，仍不夠。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蔣萬安以竹科為例：1970 年代竹科構想也受質疑，五十年後成就護國群山。現在世界正在走進臺北，必須當機立斷。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300 公頃：100 公頃 AI 產業聚落、90 公頃國際永續生活聚落、110 公頃中央公園。另外打開 570 公頃受航高限制影響的都更劃定地區。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左圖是今天的松山機場，右圖是依市府新聞稿描述繪製的 2033 示意：北半側 110 公頃中央公園，南側 AI 產業聚落與國際永續生活聚落。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產業聚落以松南營區、松機南側與中央整合。產業局以內科每公頃 360 億產值估算 12 兆，6.5 萬就業。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110 公頃中央公園在松機北半側，相當於大安森林公園四倍大，打造都市生態的綠色脊柱，結合基隆河大直段河岸再造。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航高限制讓周邊老公寓無法都更。松機遷移後約 570 公頃都更地區解鎖，加上園區開發，可增加約 15 萬戶。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交通：XY 軸捷運，Y 軸南北向從松機往南到中和；X 軸東西向串聯士林大同線、圓山、松機、內湖。跨河廊道：基湖路、敬業三路、北安路，民族東路東延，紓解內科、大直通勤。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首都科技廊帶串聯新北、桃園、基隆、宜蘭、新竹縣市、苗栗共 8 縣市，結合李四川、張善政、高虹安、鍾東錦、謝國樑、徐欣瑩、吳宗憲等人推動的建設。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雙北合作：李四川認同松機遷移構想，主張 AI 科技廊帶，以蘆社大橋、淡北快線、中和光復線北延，把北士科與臺北AI園區的紅利延伸到新北。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時程：桃機三航廈 2027 年啟用、第三跑道 2033 年完工，市府目標屆時完成遷移。交通部、內政部表示需審慎評估，市府將全力溝通、爭取中央支持。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網站提供 GTA 風格的 3D 臺北體驗、大字版重點整理、記者會逐字稿與本簡報下載。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結語：輝達來了，AI 世紀也來了，臺北要抓住這個關鍵時機，讓世界看見臺北，更因為臺北看見臺灣。AI黃金世紀，就從臺北開始。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資料來源與照片授權。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694944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67665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60520"/>
            <a:ext cx="69494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AI黃金世紀，從臺北開始｜非官方整理・資料：臺北市政府 2026/10/08 新聞稿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AI黃金世紀，從臺北開始｜非官方整理・資料：臺北市政府 2026/10/08 新聞稿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aw.githack.com/dAAAb/Wanan-AI-Golden-Park-2033/claude/taipei-ai-park-interactive-wsso9d/index.html" TargetMode="External"/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photo" descr="臺北市長蔣萬安正式肖像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2026.10.08 臺北市政府記者會</a:t>
            </a:r>
            <a:endParaRPr lang="en-US" sz="1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14300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AI黃金世紀，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從臺北開始！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4290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松山機場遷移・打造 300 公頃「臺北AI園區」</a:t>
            </a:r>
            <a:endParaRPr lang="en-US" sz="2200" dirty="0"/>
          </a:p>
        </p:txBody>
      </p:sp>
      <p:sp>
        <p:nvSpPr>
          <p:cNvPr id="6" name="pill"/>
          <p:cNvSpPr/>
          <p:nvPr/>
        </p:nvSpPr>
        <p:spPr>
          <a:xfrm>
            <a:off x="548640" y="4389120"/>
            <a:ext cx="4754880" cy="640080"/>
          </a:xfrm>
          <a:prstGeom prst="roundRect">
            <a:avLst>
              <a:gd name="adj" fmla="val 31429"/>
            </a:avLst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43891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大台北 ＝ 亞洲新矽谷</a:t>
            </a:r>
            <a:endParaRPr lang="en-US" sz="2200" dirty="0"/>
          </a:p>
        </p:txBody>
      </p:sp>
      <p:sp>
        <p:nvSpPr>
          <p:cNvPr id="8" name="pill"/>
          <p:cNvSpPr/>
          <p:nvPr/>
        </p:nvSpPr>
        <p:spPr>
          <a:xfrm>
            <a:off x="548640" y="5212080"/>
            <a:ext cx="6583680" cy="640080"/>
          </a:xfrm>
          <a:prstGeom prst="roundRect">
            <a:avLst>
              <a:gd name="adj" fmla="val 31429"/>
            </a:avLst>
          </a:prstGeom>
          <a:solidFill>
            <a:schemeClr val="bg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52120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蔣萬安 ＋ 李四川 ＝ 大台北新矽谷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非官方整理｜照片：Wikimedia Commons（臺北市政府，姓名標示）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一張圖看懂：松山機場變身臺北AI園區</a:t>
            </a:r>
            <a:endParaRPr lang="en-US" sz="3600" dirty="0"/>
          </a:p>
        </p:txBody>
      </p:sp>
      <p:pic>
        <p:nvPicPr>
          <p:cNvPr id="3" name="render" descr="2033 年臺北AI園區 3D 示意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223760" cy="4069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321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3D 示意（依新聞稿文字繪製，非正式設計圖）</a:t>
            </a:r>
            <a:endParaRPr lang="en-US" sz="1100" dirty="0"/>
          </a:p>
        </p:txBody>
      </p:sp>
      <p:sp>
        <p:nvSpPr>
          <p:cNvPr id="5" name="stat-card"/>
          <p:cNvSpPr/>
          <p:nvPr/>
        </p:nvSpPr>
        <p:spPr>
          <a:xfrm>
            <a:off x="8138160" y="1371600"/>
            <a:ext cx="3502152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1325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300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公頃 臺北AI園區</a:t>
            </a:r>
            <a:endParaRPr lang="en-US" sz="1600" dirty="0"/>
          </a:p>
        </p:txBody>
      </p:sp>
      <p:sp>
        <p:nvSpPr>
          <p:cNvPr id="8" name="stat-card"/>
          <p:cNvSpPr/>
          <p:nvPr/>
        </p:nvSpPr>
        <p:spPr>
          <a:xfrm>
            <a:off x="8138160" y="2788920"/>
            <a:ext cx="3502152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12兆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657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預估產值（新臺幣）</a:t>
            </a:r>
            <a:endParaRPr lang="en-US" sz="1600" dirty="0"/>
          </a:p>
        </p:txBody>
      </p:sp>
      <p:sp>
        <p:nvSpPr>
          <p:cNvPr id="11" name="stat-card"/>
          <p:cNvSpPr/>
          <p:nvPr/>
        </p:nvSpPr>
        <p:spPr>
          <a:xfrm>
            <a:off x="8138160" y="4206240"/>
            <a:ext cx="3502152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66760" y="41605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110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5074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公頃 中央公園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輝達來了，臺北最缺的是「腹地」</a:t>
            </a:r>
            <a:endParaRPr lang="en-US" sz="3600" dirty="0"/>
          </a:p>
        </p:txBody>
      </p:sp>
      <p:sp>
        <p:nvSpPr>
          <p:cNvPr id="3" name="icon-circle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北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444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北士科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只剩 T3、T4、T12，沒有超過 1 公頃的大面積產業用地</a:t>
            </a:r>
            <a:endParaRPr lang="en-US" sz="1500" dirty="0"/>
          </a:p>
        </p:txBody>
      </p:sp>
      <p:sp>
        <p:nvSpPr>
          <p:cNvPr id="7" name="icon-circle"/>
          <p:cNvSpPr/>
          <p:nvPr/>
        </p:nvSpPr>
        <p:spPr>
          <a:xfrm>
            <a:off x="548640" y="254203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42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內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237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內湖科技園區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緯穎、緯創興建總部後，已沒有足夠面積的產業用地</a:t>
            </a:r>
            <a:endParaRPr lang="en-US" sz="1500" dirty="0"/>
          </a:p>
        </p:txBody>
      </p:sp>
      <p:sp>
        <p:nvSpPr>
          <p:cNvPr id="11" name="icon-circle"/>
          <p:cNvSpPr/>
          <p:nvPr/>
        </p:nvSpPr>
        <p:spPr>
          <a:xfrm>
            <a:off x="548640" y="362102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2102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南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60273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南港軟體園區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0050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已經滿了，AI 軟體辦公室競相進駐周邊</a:t>
            </a:r>
            <a:endParaRPr lang="en-US" sz="1500" dirty="0"/>
          </a:p>
        </p:txBody>
      </p:sp>
      <p:sp>
        <p:nvSpPr>
          <p:cNvPr id="15" name="icon-circle"/>
          <p:cNvSpPr/>
          <p:nvPr/>
        </p:nvSpPr>
        <p:spPr>
          <a:xfrm>
            <a:off x="548640" y="470001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000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洲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68172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洲美（北士科二期）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8406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規劃中，但面對湧來的 AI 浪潮仍遠遠不夠</a:t>
            </a:r>
            <a:endParaRPr lang="en-US" sz="1500" dirty="0"/>
          </a:p>
        </p:txBody>
      </p:sp>
      <p:pic>
        <p:nvPicPr>
          <p:cNvPr id="19" name="photo" descr="蔣萬安致詞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1371600"/>
            <a:ext cx="4690872" cy="3108960"/>
          </a:xfrm>
          <a:prstGeom prst="rect">
            <a:avLst/>
          </a:prstGeom>
        </p:spPr>
      </p:pic>
      <p:sp>
        <p:nvSpPr>
          <p:cNvPr id="20" name="quote-card"/>
          <p:cNvSpPr/>
          <p:nvPr/>
        </p:nvSpPr>
        <p:spPr>
          <a:xfrm>
            <a:off x="6949440" y="4617720"/>
            <a:ext cx="4690872" cy="1508760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17804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「沒有腹地，『亞太AI首都』就只是空談。」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178040" y="5669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— 臺北市長 蔣萬安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半世紀前竹科，半世紀後臺北</a:t>
            </a:r>
            <a:endParaRPr lang="en-US" sz="3600" dirty="0"/>
          </a:p>
        </p:txBody>
      </p:sp>
      <p:sp>
        <p:nvSpPr>
          <p:cNvPr id="3" name="era-card"/>
          <p:cNvSpPr/>
          <p:nvPr/>
        </p:nvSpPr>
        <p:spPr>
          <a:xfrm>
            <a:off x="548640" y="146304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1A2A5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1970s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新竹科學園區與半導體一度飽受質疑，五十年後孕育出台積電與「護國群山」。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210312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➜</a:t>
            </a:r>
            <a:endParaRPr lang="en-US" sz="5400" dirty="0"/>
          </a:p>
        </p:txBody>
      </p:sp>
      <p:sp>
        <p:nvSpPr>
          <p:cNvPr id="7" name="era-card-now"/>
          <p:cNvSpPr/>
          <p:nvPr/>
        </p:nvSpPr>
        <p:spPr>
          <a:xfrm>
            <a:off x="6675120" y="1463040"/>
            <a:ext cx="4965192" cy="2377440"/>
          </a:xfrm>
          <a:prstGeom prst="roundRect">
            <a:avLst>
              <a:gd name="adj" fmla="val 5769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0" y="1645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2026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25146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半導體正在走出去，世界正在走進臺北。產業要持續成長，就必須找到下一個空間。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0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「歷史告訴我們，必須在機會到來的時候，當機立斷、做出關鍵決定。」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蔣萬安也提到：好友、立委葛如鈞博士走訪矽谷，分享當地出現「Taiwan Fever」、「Taipei Fever」。輝達來到臺北，國際企業、人才、技術與資金正加速匯聚。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300 公頃怎麼用？</a:t>
            </a:r>
            <a:endParaRPr lang="en-US" sz="3600" dirty="0"/>
          </a:p>
        </p:txBody>
      </p:sp>
      <p:sp>
        <p:nvSpPr>
          <p:cNvPr id="3" name="zone-card"/>
          <p:cNvSpPr/>
          <p:nvPr/>
        </p:nvSpPr>
        <p:spPr>
          <a:xfrm>
            <a:off x="548640" y="1417320"/>
            <a:ext cx="630936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8191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100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6184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公頃 AI 產業聚落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松南營區、松機南側，與中央攜手整合</a:t>
            </a:r>
            <a:endParaRPr lang="en-US" sz="1500" dirty="0"/>
          </a:p>
        </p:txBody>
      </p:sp>
      <p:sp>
        <p:nvSpPr>
          <p:cNvPr id="7" name="zone-card"/>
          <p:cNvSpPr/>
          <p:nvPr/>
        </p:nvSpPr>
        <p:spPr>
          <a:xfrm>
            <a:off x="548640" y="2926080"/>
            <a:ext cx="630936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09067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90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31272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公頃 國際永續生活聚落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住宅與公共設施，可容納 3.5 萬人</a:t>
            </a:r>
            <a:endParaRPr lang="en-US" sz="1500" dirty="0"/>
          </a:p>
        </p:txBody>
      </p:sp>
      <p:sp>
        <p:nvSpPr>
          <p:cNvPr id="11" name="zone-card"/>
          <p:cNvSpPr/>
          <p:nvPr/>
        </p:nvSpPr>
        <p:spPr>
          <a:xfrm>
            <a:off x="548640" y="4434840"/>
            <a:ext cx="630936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599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636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公頃 臺北中央公園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5120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松機北半側，臺北的「綠色脊柱」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132320" y="1325880"/>
          <a:ext cx="4480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13232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另解鎖 570 公頃受航高禁限建影響的都更地區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2026 ⇄ 2033：一樣的地，完全不同的未來</a:t>
            </a:r>
            <a:endParaRPr lang="en-US" sz="3600" dirty="0"/>
          </a:p>
        </p:txBody>
      </p:sp>
      <p:pic>
        <p:nvPicPr>
          <p:cNvPr id="3" name="before" descr="2026 松山機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440680" cy="3063240"/>
          </a:xfrm>
          <a:prstGeom prst="rect">
            <a:avLst/>
          </a:prstGeom>
        </p:spPr>
      </p:pic>
      <p:pic>
        <p:nvPicPr>
          <p:cNvPr id="4" name="after" descr="2033 臺北AI園區示意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417320"/>
            <a:ext cx="5440680" cy="3063240"/>
          </a:xfrm>
          <a:prstGeom prst="rect">
            <a:avLst/>
          </a:prstGeom>
        </p:spPr>
      </p:pic>
      <p:sp>
        <p:nvSpPr>
          <p:cNvPr id="5" name="pill"/>
          <p:cNvSpPr/>
          <p:nvPr/>
        </p:nvSpPr>
        <p:spPr>
          <a:xfrm>
            <a:off x="731520" y="1600200"/>
            <a:ext cx="2377440" cy="457200"/>
          </a:xfrm>
          <a:prstGeom prst="roundRect">
            <a:avLst>
              <a:gd name="adj" fmla="val 44000"/>
            </a:avLst>
          </a:prstGeom>
          <a:solidFill>
            <a:schemeClr val="bg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1440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松山機場</a:t>
            </a:r>
            <a:endParaRPr lang="en-US" sz="1600" dirty="0"/>
          </a:p>
        </p:txBody>
      </p:sp>
      <p:sp>
        <p:nvSpPr>
          <p:cNvPr id="7" name="pill"/>
          <p:cNvSpPr/>
          <p:nvPr/>
        </p:nvSpPr>
        <p:spPr>
          <a:xfrm>
            <a:off x="6382512" y="1600200"/>
            <a:ext cx="2651760" cy="457200"/>
          </a:xfrm>
          <a:prstGeom prst="roundRect">
            <a:avLst>
              <a:gd name="adj" fmla="val 44000"/>
            </a:avLst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565392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2033 臺北AI園區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66344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機場及周邊約 213 公頃的跑道與停機坪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66344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北半側變中央公園、南側長出 AI 聚落與生活聚落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畫面為 OpenStreetMap 資料建模之 3D 示意，配置非正式設計圖。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100 公頃 AI 產業聚落：預估 12 兆產值</a:t>
            </a:r>
            <a:endParaRPr lang="en-US" sz="3600" dirty="0"/>
          </a:p>
        </p:txBody>
      </p:sp>
      <p:pic>
        <p:nvPicPr>
          <p:cNvPr id="3" name="render" descr="AI 產業聚落 3D 示意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0350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949440" y="12801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12兆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預估產值（新臺幣）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7432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6.5萬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657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就業人口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200家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產業鏈本土企業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54864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產業局以內科每公頃 360 億元產值為基數推估；產業鏈含台積電等 50 家上市櫃公司與 150 家未上市企業及新創。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110 公頃中央公園：臺北的「綠色脊柱」</a:t>
            </a:r>
            <a:endParaRPr lang="en-US" sz="3600" dirty="0"/>
          </a:p>
        </p:txBody>
      </p:sp>
      <p:pic>
        <p:nvPicPr>
          <p:cNvPr id="3" name="render" descr="中央公園 3D 示意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035040" cy="4526280"/>
          </a:xfrm>
          <a:prstGeom prst="rect">
            <a:avLst/>
          </a:prstGeom>
        </p:spPr>
      </p:pic>
      <p:graphicFrame>
        <p:nvGraphicFramePr>
          <p:cNvPr id="4" name="Chart 0" descr=""/>
          <p:cNvGraphicFramePr/>
          <p:nvPr/>
        </p:nvGraphicFramePr>
        <p:xfrm>
          <a:off x="6858000" y="1325880"/>
          <a:ext cx="4800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858000" y="480060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面積與倫敦海德公園相近，約為代代木公園 2 倍、大安森林公園 4 倍；並結合基隆河大直段河岸再造。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6858000" y="5897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大安森林公園、代代木公園面積為公開資料；中央公園為市府規劃值。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解鎖 570 公頃都更：增加約 15 萬戶</a:t>
            </a:r>
            <a:endParaRPr lang="en-US" sz="3600" dirty="0"/>
          </a:p>
        </p:txBody>
      </p:sp>
      <p:pic>
        <p:nvPicPr>
          <p:cNvPr id="3" name="before" descr="航高限制下的老舊社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749040" cy="2377440"/>
          </a:xfrm>
          <a:prstGeom prst="rect">
            <a:avLst/>
          </a:prstGeom>
        </p:spPr>
      </p:pic>
      <p:pic>
        <p:nvPicPr>
          <p:cNvPr id="4" name="after" descr="解禁後都更示意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840480"/>
            <a:ext cx="3749040" cy="2377440"/>
          </a:xfrm>
          <a:prstGeom prst="rect">
            <a:avLst/>
          </a:prstGeom>
        </p:spPr>
      </p:pic>
      <p:sp>
        <p:nvSpPr>
          <p:cNvPr id="5" name="pill"/>
          <p:cNvSpPr/>
          <p:nvPr/>
        </p:nvSpPr>
        <p:spPr>
          <a:xfrm>
            <a:off x="685800" y="1508760"/>
            <a:ext cx="1371600" cy="411480"/>
          </a:xfrm>
          <a:prstGeom prst="roundRect">
            <a:avLst>
              <a:gd name="adj" fmla="val 48889"/>
            </a:avLst>
          </a:prstGeom>
          <a:solidFill>
            <a:schemeClr val="bg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68680" y="15087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限高中</a:t>
            </a:r>
            <a:endParaRPr lang="en-US" sz="1400" dirty="0"/>
          </a:p>
        </p:txBody>
      </p:sp>
      <p:sp>
        <p:nvSpPr>
          <p:cNvPr id="7" name="pill"/>
          <p:cNvSpPr/>
          <p:nvPr/>
        </p:nvSpPr>
        <p:spPr>
          <a:xfrm>
            <a:off x="685800" y="3977640"/>
            <a:ext cx="13716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68680" y="39776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解禁後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754880" y="12801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</a:rPr>
              <a:t>570</a:t>
            </a:r>
            <a:endParaRPr lang="en-US" sz="5400" dirty="0"/>
          </a:p>
        </p:txBody>
      </p:sp>
      <p:sp>
        <p:nvSpPr>
          <p:cNvPr id="10" name="Text 6"/>
          <p:cNvSpPr txBox="1"/>
          <p:nvPr/>
        </p:nvSpPr>
        <p:spPr>
          <a:xfrm>
            <a:off x="475488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公頃都更劃定地區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754880" y="27432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15萬戶</a:t>
            </a:r>
            <a:endParaRPr lang="en-US" sz="54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3657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新增居住單元（都發局推估）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4206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3.5萬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4754880" y="5120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園區居住人口</a:t>
            </a:r>
            <a:endParaRPr lang="en-US" sz="1600" dirty="0"/>
          </a:p>
        </p:txBody>
      </p:sp>
      <p:sp>
        <p:nvSpPr>
          <p:cNvPr id="15" name="note-card"/>
          <p:cNvSpPr/>
          <p:nvPr/>
        </p:nvSpPr>
        <p:spPr>
          <a:xfrm>
            <a:off x="8321040" y="1371600"/>
            <a:ext cx="3319272" cy="4846320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964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為什麼會長高？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8549640" y="2103120"/>
            <a:ext cx="2926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跑道前後端的航高限制，讓周邊許多 4、5 層樓老舊建築長年無法改建，影響範圍不只臺北，也包括新北、基隆、桃園。松機遷移後，這些地區就有機會都更改建，大幅釋放城市再生潛力。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打通交通任督二脈：XY 軸捷運＋跨河廊道</a:t>
            </a:r>
            <a:endParaRPr lang="en-US" sz="3600" dirty="0"/>
          </a:p>
        </p:txBody>
      </p:sp>
      <p:sp>
        <p:nvSpPr>
          <p:cNvPr id="3" name="diagram-bg"/>
          <p:cNvSpPr/>
          <p:nvPr/>
        </p:nvSpPr>
        <p:spPr>
          <a:xfrm>
            <a:off x="548640" y="1371600"/>
            <a:ext cx="5669280" cy="48006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x-line"/>
          <p:cNvSpPr/>
          <p:nvPr/>
        </p:nvSpPr>
        <p:spPr>
          <a:xfrm>
            <a:off x="868680" y="2743200"/>
            <a:ext cx="4937760" cy="0"/>
          </a:xfrm>
          <a:prstGeom prst="line">
            <a:avLst/>
          </a:prstGeom>
          <a:noFill/>
          <a:ln w="127000">
            <a:solidFill>
              <a:srgbClr val="1AA7E8"/>
            </a:solidFill>
            <a:prstDash val="solid"/>
          </a:ln>
        </p:spPr>
      </p:sp>
      <p:sp>
        <p:nvSpPr>
          <p:cNvPr id="5" name="y-line"/>
          <p:cNvSpPr/>
          <p:nvPr/>
        </p:nvSpPr>
        <p:spPr>
          <a:xfrm>
            <a:off x="3337560" y="2743200"/>
            <a:ext cx="0" cy="3017520"/>
          </a:xfrm>
          <a:prstGeom prst="line">
            <a:avLst/>
          </a:prstGeom>
          <a:noFill/>
          <a:ln w="127000">
            <a:solidFill>
              <a:srgbClr val="E8357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58775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AA7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士林大同線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993392" y="258775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AA7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圓山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285232" y="258775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AA7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內湖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82112" y="33649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國父紀念館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82112" y="40507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大安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82112" y="47365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公館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182112" y="54223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1188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中和</a:t>
            </a:r>
            <a:endParaRPr lang="en-US" sz="1400" dirty="0"/>
          </a:p>
        </p:txBody>
      </p:sp>
      <p:sp>
        <p:nvSpPr>
          <p:cNvPr id="20" name="hub"/>
          <p:cNvSpPr/>
          <p:nvPr/>
        </p:nvSpPr>
        <p:spPr>
          <a:xfrm>
            <a:off x="3063240" y="2468880"/>
            <a:ext cx="548640" cy="548640"/>
          </a:xfrm>
          <a:prstGeom prst="ellipse">
            <a:avLst/>
          </a:prstGeom>
          <a:solidFill>
            <a:srgbClr val="FFC83D"/>
          </a:solidFill>
          <a:ln w="38100">
            <a:solidFill>
              <a:srgbClr val="0B17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1874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松山機場（臺北AI園區）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X 軸（東西向）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Y 軸（南北向）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5760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示意圖，路線未定案</a:t>
            </a:r>
            <a:endParaRPr lang="en-US" sz="1100" dirty="0"/>
          </a:p>
        </p:txBody>
      </p:sp>
      <p:sp>
        <p:nvSpPr>
          <p:cNvPr id="25" name="icon-circle"/>
          <p:cNvSpPr/>
          <p:nvPr/>
        </p:nvSpPr>
        <p:spPr>
          <a:xfrm>
            <a:off x="6583680" y="14173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X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1417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連起四大產業園區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360920" y="18288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X 軸串聯士林大同線、圓山、松山機場、內湖：北士科、臺北AI園區、內科、南軟一線相連。</a:t>
            </a:r>
            <a:endParaRPr lang="en-US" sz="1500" dirty="0"/>
          </a:p>
        </p:txBody>
      </p:sp>
      <p:sp>
        <p:nvSpPr>
          <p:cNvPr id="29" name="icon-circle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Y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880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雙北跨市通勤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291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Y 軸從松山機場往南，串聯國父紀念館、大安、公館到中和。</a:t>
            </a:r>
            <a:endParaRPr lang="en-US" sz="1500" dirty="0"/>
          </a:p>
        </p:txBody>
      </p:sp>
      <p:sp>
        <p:nvSpPr>
          <p:cNvPr id="33" name="icon-circle"/>
          <p:cNvSpPr/>
          <p:nvPr/>
        </p:nvSpPr>
        <p:spPr>
          <a:xfrm>
            <a:off x="6583680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橋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7360920" y="4343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跨河廊道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7360920" y="47548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基湖路、敬業三路、北安路穿越松機腹地接松山、信義；民族東路向東串聯大直、內湖，向西接建國、新生高架。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首都科技廊帶（CTC）：串聯北臺灣 8 縣市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 flipV="1">
            <a:off x="3383280" y="2377440"/>
            <a:ext cx="822960" cy="73152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4206240" y="1737360"/>
            <a:ext cx="1280160" cy="64008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2377440"/>
            <a:ext cx="1737360" cy="164592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94560" y="3108960"/>
            <a:ext cx="1188720" cy="36576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463040" y="3474720"/>
            <a:ext cx="731520" cy="100584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88720" y="4480560"/>
            <a:ext cx="274320" cy="54864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14400" y="5029200"/>
            <a:ext cx="274320" cy="73152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10" name="node"/>
          <p:cNvSpPr/>
          <p:nvPr/>
        </p:nvSpPr>
        <p:spPr>
          <a:xfrm>
            <a:off x="3771900" y="1943100"/>
            <a:ext cx="868680" cy="868680"/>
          </a:xfrm>
          <a:prstGeom prst="ellipse">
            <a:avLst/>
          </a:prstGeom>
          <a:solidFill>
            <a:srgbClr val="FFC8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148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臺北</a:t>
            </a:r>
            <a:endParaRPr lang="en-US" sz="1600" dirty="0"/>
          </a:p>
        </p:txBody>
      </p:sp>
      <p:sp>
        <p:nvSpPr>
          <p:cNvPr id="12" name="node"/>
          <p:cNvSpPr/>
          <p:nvPr/>
        </p:nvSpPr>
        <p:spPr>
          <a:xfrm>
            <a:off x="3191256" y="29169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2926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新北</a:t>
            </a:r>
            <a:endParaRPr lang="en-US" sz="1500" dirty="0"/>
          </a:p>
        </p:txBody>
      </p:sp>
      <p:sp>
        <p:nvSpPr>
          <p:cNvPr id="14" name="node"/>
          <p:cNvSpPr/>
          <p:nvPr/>
        </p:nvSpPr>
        <p:spPr>
          <a:xfrm>
            <a:off x="5294376" y="15453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0" y="1554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基隆</a:t>
            </a:r>
            <a:endParaRPr lang="en-US" sz="1500" dirty="0"/>
          </a:p>
        </p:txBody>
      </p:sp>
      <p:sp>
        <p:nvSpPr>
          <p:cNvPr id="16" name="node"/>
          <p:cNvSpPr/>
          <p:nvPr/>
        </p:nvSpPr>
        <p:spPr>
          <a:xfrm>
            <a:off x="5751576" y="38313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3840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宜蘭</a:t>
            </a:r>
            <a:endParaRPr lang="en-US" sz="1500" dirty="0"/>
          </a:p>
        </p:txBody>
      </p:sp>
      <p:sp>
        <p:nvSpPr>
          <p:cNvPr id="18" name="node"/>
          <p:cNvSpPr/>
          <p:nvPr/>
        </p:nvSpPr>
        <p:spPr>
          <a:xfrm>
            <a:off x="2002536" y="328269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68880" y="3291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桃園</a:t>
            </a:r>
            <a:endParaRPr lang="en-US" sz="1500" dirty="0"/>
          </a:p>
        </p:txBody>
      </p:sp>
      <p:sp>
        <p:nvSpPr>
          <p:cNvPr id="20" name="node"/>
          <p:cNvSpPr/>
          <p:nvPr/>
        </p:nvSpPr>
        <p:spPr>
          <a:xfrm>
            <a:off x="1271016" y="42885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737360" y="4297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新竹縣</a:t>
            </a:r>
            <a:endParaRPr lang="en-US" sz="1500" dirty="0"/>
          </a:p>
        </p:txBody>
      </p:sp>
      <p:sp>
        <p:nvSpPr>
          <p:cNvPr id="22" name="node"/>
          <p:cNvSpPr/>
          <p:nvPr/>
        </p:nvSpPr>
        <p:spPr>
          <a:xfrm>
            <a:off x="996696" y="483717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463040" y="4846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新竹市</a:t>
            </a:r>
            <a:endParaRPr lang="en-US" sz="1500" dirty="0"/>
          </a:p>
        </p:txBody>
      </p:sp>
      <p:sp>
        <p:nvSpPr>
          <p:cNvPr id="24" name="node"/>
          <p:cNvSpPr/>
          <p:nvPr/>
        </p:nvSpPr>
        <p:spPr>
          <a:xfrm>
            <a:off x="722376" y="556869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5577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苗栗</a:t>
            </a:r>
            <a:endParaRPr lang="en-US" sz="1500" dirty="0"/>
          </a:p>
        </p:txBody>
      </p:sp>
      <p:sp>
        <p:nvSpPr>
          <p:cNvPr id="26" name="ctc-card"/>
          <p:cNvSpPr/>
          <p:nvPr/>
        </p:nvSpPr>
        <p:spPr>
          <a:xfrm>
            <a:off x="6766560" y="141732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995160" y="1527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新北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995160" y="18928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結合李四川倡議，以輕軌及快速道路連結蘆洲、五股、板橋、土城等科技園區</a:t>
            </a:r>
            <a:endParaRPr lang="en-US" sz="1400" dirty="0"/>
          </a:p>
        </p:txBody>
      </p:sp>
      <p:sp>
        <p:nvSpPr>
          <p:cNvPr id="29" name="ctc-card"/>
          <p:cNvSpPr/>
          <p:nvPr/>
        </p:nvSpPr>
        <p:spPr>
          <a:xfrm>
            <a:off x="6766560" y="260604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95160" y="2715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桃竹苗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0815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串聯桃園各產業園區、桃園機場與「桃竹苗大矽谷推動方案」</a:t>
            </a:r>
            <a:endParaRPr lang="en-US" sz="1400" dirty="0"/>
          </a:p>
        </p:txBody>
      </p:sp>
      <p:sp>
        <p:nvSpPr>
          <p:cNvPr id="32" name="ctc-card"/>
          <p:cNvSpPr/>
          <p:nvPr/>
        </p:nvSpPr>
        <p:spPr>
          <a:xfrm>
            <a:off x="6766560" y="379476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95160" y="3904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基隆・宜蘭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995160" y="427024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連結基隆智慧科技園區、宜蘭科學園區</a:t>
            </a:r>
            <a:endParaRPr lang="en-US" sz="1400" dirty="0"/>
          </a:p>
        </p:txBody>
      </p:sp>
      <p:sp>
        <p:nvSpPr>
          <p:cNvPr id="35" name="ctc-card"/>
          <p:cNvSpPr/>
          <p:nvPr/>
        </p:nvSpPr>
        <p:spPr>
          <a:xfrm>
            <a:off x="6766560" y="498348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995160" y="50932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陸海空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54589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完成陸、海、空整合，打造北臺灣黃金產業生活圈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蔣萬安 ＋ 李四川 ＝ </a:t>
            </a:r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大台北新矽谷</a:t>
            </a:r>
            <a:endParaRPr lang="en-US" sz="3600" dirty="0"/>
          </a:p>
        </p:txBody>
      </p:sp>
      <p:pic>
        <p:nvPicPr>
          <p:cNvPr id="3" name="photo-chiang" descr="臺北市長蔣萬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265176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24688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＋</a:t>
            </a:r>
            <a:endParaRPr lang="en-US" sz="4800" dirty="0"/>
          </a:p>
        </p:txBody>
      </p:sp>
      <p:pic>
        <p:nvPicPr>
          <p:cNvPr id="5" name="photo-lee" descr="李四川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23360" y="1417320"/>
            <a:ext cx="265176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709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蔣萬安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臺北市長・臺北AI園區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023360" y="4709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李四川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0233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新北市長參選人・AI 科技廊帶</a:t>
            </a:r>
            <a:endParaRPr lang="en-US" sz="1400" dirty="0"/>
          </a:p>
        </p:txBody>
      </p:sp>
      <p:sp>
        <p:nvSpPr>
          <p:cNvPr id="10" name="valley-card"/>
          <p:cNvSpPr/>
          <p:nvPr/>
        </p:nvSpPr>
        <p:spPr>
          <a:xfrm>
            <a:off x="7040880" y="1417320"/>
            <a:ext cx="4599432" cy="160020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269480" y="15544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大台北 ＝ 亞洲新矽谷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3200400"/>
            <a:ext cx="4599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「AI 這一波，是歷史時刻，也是台灣的機遇，新北必須接住。」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4206240"/>
            <a:ext cx="4599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— 李四川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4617720"/>
            <a:ext cx="4599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李四川認同臺北AI園區：輝達進駐後北市已沒有地，應提早規劃；中和光復線往北延伸，新店、中永和一路接到未來的臺北AI園區。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時程與配套：2033 年，條件成熟</a:t>
            </a:r>
            <a:endParaRPr lang="en-US" sz="3600" dirty="0"/>
          </a:p>
        </p:txBody>
      </p:sp>
      <p:sp>
        <p:nvSpPr>
          <p:cNvPr id="3" name="timeline"/>
          <p:cNvSpPr/>
          <p:nvPr/>
        </p:nvSpPr>
        <p:spPr>
          <a:xfrm>
            <a:off x="731520" y="2743200"/>
            <a:ext cx="10424160" cy="0"/>
          </a:xfrm>
          <a:prstGeom prst="line">
            <a:avLst/>
          </a:prstGeom>
          <a:noFill/>
          <a:ln w="50800">
            <a:solidFill>
              <a:srgbClr val="0B1730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1936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臺北飛行場啟用</a:t>
            </a:r>
            <a:endParaRPr lang="en-US" sz="1600" dirty="0"/>
          </a:p>
        </p:txBody>
      </p:sp>
      <p:sp>
        <p:nvSpPr>
          <p:cNvPr id="7" name="dot"/>
          <p:cNvSpPr/>
          <p:nvPr/>
        </p:nvSpPr>
        <p:spPr>
          <a:xfrm>
            <a:off x="3429000" y="2560320"/>
            <a:ext cx="365760" cy="365760"/>
          </a:xfrm>
          <a:prstGeom prst="ellipse">
            <a:avLst/>
          </a:prstGeom>
          <a:solidFill>
            <a:srgbClr val="FFC83D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2026.10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宣布松機遷移構想</a:t>
            </a:r>
            <a:endParaRPr lang="en-US" sz="1600" dirty="0"/>
          </a:p>
        </p:txBody>
      </p:sp>
      <p:sp>
        <p:nvSpPr>
          <p:cNvPr id="10" name="dot"/>
          <p:cNvSpPr/>
          <p:nvPr/>
        </p:nvSpPr>
        <p:spPr>
          <a:xfrm>
            <a:off x="6217920" y="2560320"/>
            <a:ext cx="365760" cy="3657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2027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桃機第三航廈預計啟用</a:t>
            </a:r>
            <a:endParaRPr lang="en-US" sz="1600" dirty="0"/>
          </a:p>
        </p:txBody>
      </p:sp>
      <p:sp>
        <p:nvSpPr>
          <p:cNvPr id="13" name="dot"/>
          <p:cNvSpPr/>
          <p:nvPr/>
        </p:nvSpPr>
        <p:spPr>
          <a:xfrm>
            <a:off x="9006840" y="2560320"/>
            <a:ext cx="365760" cy="365760"/>
          </a:xfrm>
          <a:prstGeom prst="ellipse">
            <a:avLst/>
          </a:prstGeom>
          <a:solidFill>
            <a:srgbClr val="FFC83D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0684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2033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桃機第三跑道完工・目標完成遷移</a:t>
            </a:r>
            <a:endParaRPr lang="en-US" sz="1600" dirty="0"/>
          </a:p>
        </p:txBody>
      </p:sp>
      <p:sp>
        <p:nvSpPr>
          <p:cNvPr id="16" name="next-card"/>
          <p:cNvSpPr/>
          <p:nvPr/>
        </p:nvSpPr>
        <p:spPr>
          <a:xfrm>
            <a:off x="548640" y="4206240"/>
            <a:ext cx="35661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36 分鐘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4632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五楊高架、機場捷運完成後，臺北到桃園機場約 36 分鐘</a:t>
            </a:r>
            <a:endParaRPr lang="en-US" sz="1400" dirty="0"/>
          </a:p>
        </p:txBody>
      </p:sp>
      <p:sp>
        <p:nvSpPr>
          <p:cNvPr id="19" name="next-card"/>
          <p:cNvSpPr/>
          <p:nvPr/>
        </p:nvSpPr>
        <p:spPr>
          <a:xfrm>
            <a:off x="4297680" y="4206240"/>
            <a:ext cx="35661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26280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中央協調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84632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松機兼具國際、兩岸、離島航線與國防、救災任務，市府將與交通部、國防部及中央共同討論</a:t>
            </a:r>
            <a:endParaRPr lang="en-US" sz="1400" dirty="0"/>
          </a:p>
        </p:txBody>
      </p:sp>
      <p:sp>
        <p:nvSpPr>
          <p:cNvPr id="22" name="next-card"/>
          <p:cNvSpPr/>
          <p:nvPr/>
        </p:nvSpPr>
        <p:spPr>
          <a:xfrm>
            <a:off x="8046720" y="4206240"/>
            <a:ext cx="35661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75320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現在開始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484632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「如果沒有開始，就永遠不會有成果。」大巨蛋花了 32 年，公館圓環討論 20 多年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親自開車看：3D 臺北 2033</a:t>
            </a:r>
            <a:endParaRPr lang="en-US" sz="3600" dirty="0"/>
          </a:p>
        </p:txBody>
      </p:sp>
      <p:pic>
        <p:nvPicPr>
          <p:cNvPr id="3" name="render" descr="臺北AI園區夜景 3D 示意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498080" cy="4206240"/>
          </a:xfrm>
          <a:prstGeom prst="rect">
            <a:avLst/>
          </a:prstGeom>
        </p:spPr>
      </p:pic>
      <p:pic>
        <p:nvPicPr>
          <p:cNvPr id="4" name="qr" descr="網站 QR 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371600"/>
            <a:ext cx="2377440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3840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掃描進入網站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8321040" y="4343400"/>
            <a:ext cx="3319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開著臺北小黃開到松山機場，按一下切換 2026 ⇄ 2033，看 110 公頃中央公園長出來；還有逐字稿、簡報下載。</a:t>
            </a:r>
            <a:endParaRPr lang="en-US" sz="1400" dirty="0"/>
          </a:p>
        </p:txBody>
      </p:sp>
      <p:sp>
        <p:nvSpPr>
          <p:cNvPr id="7" name="Text 3">
            <a:hlinkClick r:id="rId3" tooltip=""/>
          </p:cNvPr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chemeClr val="bg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https://raw.githack.com/dAAAb/Wanan-AI-Golden-Park-2033/claude/taipei-ai-park-interactive-wsso9d/index.html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-photo" descr="臺北市長蔣萬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「我的第一個任期，成功爭取輝達進駐；我的第二個任期，要抓住 AI 這樣的歷史性機遇，為臺灣開創新的『AI黃金世紀』。」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337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— 臺北市長 蔣萬安</a:t>
            </a:r>
            <a:endParaRPr lang="en-US" sz="18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416052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AI黃金世紀，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從臺北開始！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資料來源與授權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臺北市政府新聞稿〈輝達來了！蔣萬安發表「AI黃金世紀」新願景 拋松機遷移打造百公頃臺北AI園區〉2026/10/08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影片：AI黃金世紀，就從臺北開始｜20261008 發布會完整版（youtu.be/ircGbXWHRbQ）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中央社、自由時報、TVBS、聯合報、住展雜誌等 2026/10/08–09 報導（含交通部、李四川回應）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地圖與 3D：© OpenStreetMap 貢獻者（ODbL），three.js 建模；園區配置為依新聞稿文字繪製之示意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照片：Wikimedia Commons — 臺北市政府（姓名標示）、Solomon203（CC BY-SA 4.0）、高雄市政府（姓名標示）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本簡報為非官方整理，與臺北市政府無隸屬關係；正式內容以市府公告為準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Golden Century Taipei">
  <a:themeElements>
    <a:clrScheme name="AI Golden Century Taipei">
      <a:dk1>
        <a:srgbClr val="0B1730"/>
      </a:dk1>
      <a:lt1>
        <a:srgbClr val="FFFFFF"/>
      </a:lt1>
      <a:dk2>
        <a:srgbClr val="14203A"/>
      </a:dk2>
      <a:lt2>
        <a:srgbClr val="F1F4F9"/>
      </a:lt2>
      <a:accent1>
        <a:srgbClr val="FFC83D"/>
      </a:accent1>
      <a:accent2>
        <a:srgbClr val="1F6FD1"/>
      </a:accent2>
      <a:accent3>
        <a:srgbClr val="3FA34D"/>
      </a:accent3>
      <a:accent4>
        <a:srgbClr val="C46A00"/>
      </a:accent4>
      <a:accent5>
        <a:srgbClr val="E8357F"/>
      </a:accent5>
      <a:accent6>
        <a:srgbClr val="1AA7E8"/>
      </a:accent6>
      <a:hlink>
        <a:srgbClr val="1F6FD1"/>
      </a:hlink>
      <a:folHlink>
        <a:srgbClr val="6D2E8F"/>
      </a:folHlink>
    </a:clrScheme>
    <a:fontScheme name="AI Golden Century Taipe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AI黃金世紀，從臺北開始</dc:title>
  <dc:subject>松山機場遷移・300 公頃臺北AI園區（2026/10/08 記者會重點）</dc:subject>
  <dc:creator>非官方整理</dc:creator>
  <cp:lastModifiedBy>非官方整理</cp:lastModifiedBy>
  <cp:revision>1</cp:revision>
  <dcterms:created xsi:type="dcterms:W3CDTF">2026-10-09T07:16:22Z</dcterms:created>
  <dcterms:modified xsi:type="dcterms:W3CDTF">2026-10-09T07:16:22Z</dcterms:modified>
</cp:coreProperties>
</file>